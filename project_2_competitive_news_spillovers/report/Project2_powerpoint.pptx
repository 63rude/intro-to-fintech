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525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805068" y="236711"/>
            <a:ext cx="83879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 STUDY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65745" y="1168152"/>
            <a:ext cx="3312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760" b="1" kern="0" spc="91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EQUITY SPILLOVERS · NEWS CLASSIFICATION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65745" y="1332086"/>
            <a:ext cx="3357473" cy="538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91"/>
              </a:spcAft>
              <a:buNone/>
            </a:pPr>
            <a:r>
              <a:rPr lang="en-US" sz="3310" b="1" kern="0" spc="-66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Contagion or</a:t>
            </a:r>
            <a:endParaRPr lang="en-US" sz="3310" dirty="0"/>
          </a:p>
        </p:txBody>
      </p:sp>
      <p:sp>
        <p:nvSpPr>
          <p:cNvPr id="11" name="Text 9"/>
          <p:cNvSpPr/>
          <p:nvPr/>
        </p:nvSpPr>
        <p:spPr>
          <a:xfrm>
            <a:off x="365745" y="1773659"/>
            <a:ext cx="3512158" cy="538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91"/>
              </a:spcAft>
              <a:buNone/>
            </a:pPr>
            <a:r>
              <a:rPr lang="en-US" sz="3310" b="1" kern="0" spc="-66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Competition?</a:t>
            </a:r>
            <a:endParaRPr lang="en-US" sz="3310" dirty="0"/>
          </a:p>
        </p:txBody>
      </p:sp>
      <p:sp>
        <p:nvSpPr>
          <p:cNvPr id="12" name="Text 10"/>
          <p:cNvSpPr/>
          <p:nvPr/>
        </p:nvSpPr>
        <p:spPr>
          <a:xfrm>
            <a:off x="365745" y="2385492"/>
            <a:ext cx="4975421" cy="578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LLM-based event study of corporate news spillovers across</a:t>
            </a:r>
            <a:endParaRPr lang="en-US" sz="1040" dirty="0"/>
          </a:p>
          <a:p>
            <a:pPr marL="0" indent="0" algn="l">
              <a:lnSpc>
                <a:spcPts val="1566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competitor stocks — measuring how one firm's headlines move</a:t>
            </a:r>
            <a:endParaRPr lang="en-US" sz="1040" dirty="0"/>
          </a:p>
          <a:p>
            <a:pPr marL="0" indent="0" algn="l">
              <a:lnSpc>
                <a:spcPts val="1566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its rivals.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366713" y="3184141"/>
            <a:ext cx="2352675" cy="871538"/>
          </a:xfrm>
          <a:prstGeom prst="roundRect">
            <a:avLst>
              <a:gd name="adj" fmla="val 104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5037" y="3321248"/>
            <a:ext cx="99628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610" b="1" kern="0" spc="24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UNIQUE ARTICLES</a:t>
            </a:r>
            <a:endParaRPr lang="en-US" sz="610" dirty="0"/>
          </a:p>
        </p:txBody>
      </p:sp>
      <p:sp>
        <p:nvSpPr>
          <p:cNvPr id="15" name="Text 13"/>
          <p:cNvSpPr/>
          <p:nvPr/>
        </p:nvSpPr>
        <p:spPr>
          <a:xfrm>
            <a:off x="535037" y="3517776"/>
            <a:ext cx="117699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38,131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2867620" y="3184141"/>
            <a:ext cx="2352675" cy="871538"/>
          </a:xfrm>
          <a:prstGeom prst="roundRect">
            <a:avLst>
              <a:gd name="adj" fmla="val 104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35945" y="3321248"/>
            <a:ext cx="57905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610" b="1" kern="0" spc="24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UNIVERSE</a:t>
            </a:r>
            <a:endParaRPr lang="en-US" sz="610" dirty="0"/>
          </a:p>
        </p:txBody>
      </p:sp>
      <p:sp>
        <p:nvSpPr>
          <p:cNvPr id="18" name="Text 16"/>
          <p:cNvSpPr/>
          <p:nvPr/>
        </p:nvSpPr>
        <p:spPr>
          <a:xfrm>
            <a:off x="3035945" y="3517776"/>
            <a:ext cx="509111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3438451" y="3708276"/>
            <a:ext cx="104504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tickers · 5 sectors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540499" y="676461"/>
            <a:ext cx="3238500" cy="386715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5453" y="865659"/>
            <a:ext cx="197856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Next-Day Competitor AR</a:t>
            </a:r>
            <a:endParaRPr lang="en-US" sz="790" dirty="0"/>
          </a:p>
        </p:txBody>
      </p:sp>
      <p:sp>
        <p:nvSpPr>
          <p:cNvPr id="22" name="Text 20"/>
          <p:cNvSpPr/>
          <p:nvPr/>
        </p:nvSpPr>
        <p:spPr>
          <a:xfrm>
            <a:off x="5765453" y="1042243"/>
            <a:ext cx="138082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61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 news type · broad sample</a:t>
            </a:r>
            <a:endParaRPr lang="en-US" sz="610" dirty="0"/>
          </a:p>
        </p:txBody>
      </p:sp>
      <p:sp>
        <p:nvSpPr>
          <p:cNvPr id="23" name="Shape 21"/>
          <p:cNvSpPr/>
          <p:nvPr/>
        </p:nvSpPr>
        <p:spPr>
          <a:xfrm>
            <a:off x="5764337" y="2181299"/>
            <a:ext cx="2790825" cy="1133475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09605" y="2187029"/>
            <a:ext cx="4722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+0.66%</a:t>
            </a:r>
            <a:endParaRPr lang="en-US" sz="68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64448" y="2364991"/>
            <a:ext cx="809625" cy="9382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002289" y="3004021"/>
            <a:ext cx="4664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+0.07%</a:t>
            </a:r>
            <a:endParaRPr lang="en-US" sz="68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4899" y="3180680"/>
            <a:ext cx="809625" cy="12382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981057" y="3093765"/>
            <a:ext cx="4968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~0.00%</a:t>
            </a:r>
            <a:endParaRPr lang="en-US" sz="68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5350" y="3270796"/>
            <a:ext cx="809625" cy="33337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951611" y="4254252"/>
            <a:ext cx="4353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Industry</a:t>
            </a:r>
            <a:endParaRPr lang="en-US" sz="580" dirty="0"/>
          </a:p>
        </p:txBody>
      </p:sp>
      <p:sp>
        <p:nvSpPr>
          <p:cNvPr id="31" name="Text 26"/>
          <p:cNvSpPr/>
          <p:nvPr/>
        </p:nvSpPr>
        <p:spPr>
          <a:xfrm>
            <a:off x="6983864" y="4254252"/>
            <a:ext cx="35162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</a:t>
            </a:r>
            <a:endParaRPr lang="en-US" sz="580" dirty="0"/>
          </a:p>
        </p:txBody>
      </p:sp>
      <p:sp>
        <p:nvSpPr>
          <p:cNvPr id="32" name="Text 27"/>
          <p:cNvSpPr/>
          <p:nvPr/>
        </p:nvSpPr>
        <p:spPr>
          <a:xfrm>
            <a:off x="7859680" y="4254252"/>
            <a:ext cx="5808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Competitor</a:t>
            </a:r>
            <a:endParaRPr lang="en-US" sz="580" dirty="0"/>
          </a:p>
        </p:txBody>
      </p:sp>
      <p:sp>
        <p:nvSpPr>
          <p:cNvPr id="33" name="Shape 28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35" name="Text 30"/>
          <p:cNvSpPr/>
          <p:nvPr/>
        </p:nvSpPr>
        <p:spPr>
          <a:xfrm>
            <a:off x="7840340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36" name="Text 31"/>
          <p:cNvSpPr/>
          <p:nvPr/>
        </p:nvSpPr>
        <p:spPr>
          <a:xfrm>
            <a:off x="8466311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37" name="Text 32"/>
          <p:cNvSpPr/>
          <p:nvPr/>
        </p:nvSpPr>
        <p:spPr>
          <a:xfrm>
            <a:off x="8611046" y="4826050"/>
            <a:ext cx="27452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Title</a:t>
            </a:r>
            <a:endParaRPr lang="en-US" sz="61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64337" y="2181299"/>
            <a:ext cx="2790825" cy="1133475"/>
          </a:xfrm>
          <a:prstGeom prst="rect">
            <a:avLst/>
          </a:prstGeom>
        </p:spPr>
      </p:pic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48476" y="236711"/>
            <a:ext cx="130236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RESEARCH QUESTION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65745" y="980331"/>
            <a:ext cx="15804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760" b="1" kern="0" spc="76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RESEARCH QUESTION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65745" y="1147911"/>
            <a:ext cx="4742378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450" b="1" kern="0" spc="-4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a firm makes news,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365745" y="1483668"/>
            <a:ext cx="3526185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450" b="1" kern="0" spc="-4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 its rivals move?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365745" y="1965127"/>
            <a:ext cx="4755632" cy="339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company's headlines can spill onto competitors in two opposite</a:t>
            </a:r>
            <a:endParaRPr lang="en-US" sz="9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ways. We test which force dominates in the days right after the news.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4815" y="2501392"/>
            <a:ext cx="4048125" cy="519112"/>
          </a:xfrm>
          <a:prstGeom prst="roundRect">
            <a:avLst>
              <a:gd name="adj" fmla="val 1761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4070" y="2607915"/>
            <a:ext cx="276225" cy="276225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6446" y="2680097"/>
            <a:ext cx="20196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H1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937320" y="2613645"/>
            <a:ext cx="1316005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"/>
              </a:spcAft>
              <a:buNone/>
            </a:pPr>
            <a:r>
              <a:rPr lang="en-US" sz="83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Industry contagion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937320" y="2791867"/>
            <a:ext cx="352192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Sector-wide news lifts (or sinks) competitors in the same direction.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364815" y="3113298"/>
            <a:ext cx="4048125" cy="519112"/>
          </a:xfrm>
          <a:prstGeom prst="roundRect">
            <a:avLst>
              <a:gd name="adj" fmla="val 1761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4070" y="3219822"/>
            <a:ext cx="276225" cy="276225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9302" y="3292004"/>
            <a:ext cx="2205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H2</a:t>
            </a:r>
            <a:endParaRPr lang="en-US" sz="790" dirty="0"/>
          </a:p>
        </p:txBody>
      </p:sp>
      <p:sp>
        <p:nvSpPr>
          <p:cNvPr id="21" name="Text 19"/>
          <p:cNvSpPr/>
          <p:nvPr/>
        </p:nvSpPr>
        <p:spPr>
          <a:xfrm>
            <a:off x="937320" y="3225552"/>
            <a:ext cx="173526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"/>
              </a:spcAft>
              <a:buNone/>
            </a:pPr>
            <a:r>
              <a:rPr lang="en-US" sz="83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Competitive substitution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937320" y="3403774"/>
            <a:ext cx="361324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firm's gain is its rival's loss — returns move in opposite directions.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364815" y="3725205"/>
            <a:ext cx="4048125" cy="519112"/>
          </a:xfrm>
          <a:prstGeom prst="roundRect">
            <a:avLst>
              <a:gd name="adj" fmla="val 1761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4070" y="3831729"/>
            <a:ext cx="276225" cy="276225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633" y="3903911"/>
            <a:ext cx="22237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H3</a:t>
            </a:r>
            <a:endParaRPr lang="en-US" sz="790" dirty="0"/>
          </a:p>
        </p:txBody>
      </p:sp>
      <p:sp>
        <p:nvSpPr>
          <p:cNvPr id="26" name="Text 24"/>
          <p:cNvSpPr/>
          <p:nvPr/>
        </p:nvSpPr>
        <p:spPr>
          <a:xfrm>
            <a:off x="937320" y="3837459"/>
            <a:ext cx="1130074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"/>
              </a:spcAft>
              <a:buNone/>
            </a:pPr>
            <a:r>
              <a:rPr lang="en-US" sz="83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 signal value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937320" y="4015680"/>
            <a:ext cx="37154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LLM's expected-effect label predicts the sign of competitor returns.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4731060" y="676461"/>
            <a:ext cx="4048125" cy="386715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92737" y="1386408"/>
            <a:ext cx="18452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competing forces</a:t>
            </a:r>
            <a:endParaRPr lang="en-US" sz="1010" dirty="0"/>
          </a:p>
        </p:txBody>
      </p:sp>
      <p:sp>
        <p:nvSpPr>
          <p:cNvPr id="30" name="Shape 28"/>
          <p:cNvSpPr/>
          <p:nvPr/>
        </p:nvSpPr>
        <p:spPr>
          <a:xfrm>
            <a:off x="4992998" y="1824893"/>
            <a:ext cx="3524250" cy="728663"/>
          </a:xfrm>
          <a:prstGeom prst="roundRect">
            <a:avLst>
              <a:gd name="adj" fmla="val 10039"/>
            </a:avLst>
          </a:prstGeom>
          <a:solidFill>
            <a:srgbClr val="0D9488">
              <a:alpha val="6000"/>
            </a:srgbClr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62029" y="1969219"/>
            <a:ext cx="70994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610" b="1" kern="0" spc="37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</a:t>
            </a:r>
            <a:endParaRPr lang="en-US" sz="610" dirty="0"/>
          </a:p>
        </p:txBody>
      </p:sp>
      <p:sp>
        <p:nvSpPr>
          <p:cNvPr id="32" name="Text 30"/>
          <p:cNvSpPr/>
          <p:nvPr/>
        </p:nvSpPr>
        <p:spPr>
          <a:xfrm>
            <a:off x="5162029" y="2132409"/>
            <a:ext cx="3829749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79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Good news for one firm → rivals rise too. Shared shocks travel</a:t>
            </a:r>
            <a:endParaRPr lang="en-US" sz="790" dirty="0"/>
          </a:p>
          <a:p>
            <a:pPr marL="0" indent="0" algn="l">
              <a:lnSpc>
                <a:spcPts val="1109"/>
              </a:lnSpc>
              <a:buNone/>
            </a:pPr>
            <a:r>
              <a:rPr lang="en-US" sz="79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across the sector.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4992998" y="2705658"/>
            <a:ext cx="3524250" cy="728663"/>
          </a:xfrm>
          <a:prstGeom prst="roundRect">
            <a:avLst>
              <a:gd name="adj" fmla="val 10039"/>
            </a:avLst>
          </a:prstGeom>
          <a:solidFill>
            <a:srgbClr val="1E3A5F">
              <a:alpha val="4000"/>
            </a:srgbClr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62029" y="2849984"/>
            <a:ext cx="8114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610" b="1" kern="0" spc="37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COMPETITION</a:t>
            </a:r>
            <a:endParaRPr lang="en-US" sz="610" dirty="0"/>
          </a:p>
        </p:txBody>
      </p:sp>
      <p:sp>
        <p:nvSpPr>
          <p:cNvPr id="35" name="Text 33"/>
          <p:cNvSpPr/>
          <p:nvPr/>
        </p:nvSpPr>
        <p:spPr>
          <a:xfrm>
            <a:off x="5162029" y="3013174"/>
            <a:ext cx="3972438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79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Good news for one firm → rivals fall. Market share is reallocated,</a:t>
            </a:r>
            <a:endParaRPr lang="en-US" sz="790" dirty="0"/>
          </a:p>
          <a:p>
            <a:pPr marL="0" indent="0" algn="l">
              <a:lnSpc>
                <a:spcPts val="1109"/>
              </a:lnSpc>
              <a:buNone/>
            </a:pPr>
            <a:r>
              <a:rPr lang="en-US" sz="79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created.</a:t>
            </a:r>
            <a:endParaRPr lang="en-US" sz="790" dirty="0"/>
          </a:p>
        </p:txBody>
      </p:sp>
      <p:sp>
        <p:nvSpPr>
          <p:cNvPr id="36" name="Text 34"/>
          <p:cNvSpPr/>
          <p:nvPr/>
        </p:nvSpPr>
        <p:spPr>
          <a:xfrm>
            <a:off x="4992737" y="3592264"/>
            <a:ext cx="4512238" cy="244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6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classify each article's expected competitor effect, then measure realized abnormal</a:t>
            </a:r>
            <a:endParaRPr lang="en-US" sz="680" dirty="0"/>
          </a:p>
          <a:p>
            <a:pPr marL="0" indent="0" algn="l">
              <a:lnSpc>
                <a:spcPts val="1025"/>
              </a:lnSpc>
              <a:buNone/>
            </a:pPr>
            <a:r>
              <a:rPr lang="en-US" sz="6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returns to see which story the data tells.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39" name="Text 37"/>
          <p:cNvSpPr/>
          <p:nvPr/>
        </p:nvSpPr>
        <p:spPr>
          <a:xfrm>
            <a:off x="7761163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40" name="Text 38"/>
          <p:cNvSpPr/>
          <p:nvPr/>
        </p:nvSpPr>
        <p:spPr>
          <a:xfrm>
            <a:off x="8387135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41" name="Text 39"/>
          <p:cNvSpPr/>
          <p:nvPr/>
        </p:nvSpPr>
        <p:spPr>
          <a:xfrm>
            <a:off x="8531870" y="4826050"/>
            <a:ext cx="37745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2</a:t>
            </a:r>
            <a:endParaRPr lang="en-US" sz="61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4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2998" y="1371898"/>
            <a:ext cx="3524250" cy="300038"/>
          </a:xfrm>
          <a:prstGeom prst="rect">
            <a:avLst/>
          </a:prstGeom>
        </p:spPr>
      </p:pic>
      <p:pic>
        <p:nvPicPr>
          <p:cNvPr id="4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314679" y="236711"/>
            <a:ext cx="147630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PIPELINE · FIGURE 1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65745" y="680889"/>
            <a:ext cx="186547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760" b="1" kern="0" spc="76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DATASET CONSTRUCTION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65745" y="838200"/>
            <a:ext cx="749390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kern="0" spc="-43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55,094 raw rows to 930 relevant events</a:t>
            </a:r>
            <a:endParaRPr lang="en-US" sz="2160" dirty="0"/>
          </a:p>
        </p:txBody>
      </p:sp>
      <p:sp>
        <p:nvSpPr>
          <p:cNvPr id="11" name="Shape 9"/>
          <p:cNvSpPr/>
          <p:nvPr/>
        </p:nvSpPr>
        <p:spPr>
          <a:xfrm>
            <a:off x="366713" y="1287252"/>
            <a:ext cx="8410575" cy="325755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145" y="1641425"/>
            <a:ext cx="91879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Raw news rows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431600" y="1773808"/>
            <a:ext cx="49334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9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Initial pull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2070534" y="1601949"/>
            <a:ext cx="6429375" cy="319088"/>
          </a:xfrm>
          <a:prstGeom prst="roundRect">
            <a:avLst>
              <a:gd name="adj" fmla="val 14328"/>
            </a:avLst>
          </a:prstGeom>
          <a:solidFill>
            <a:srgbClr val="0D9488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99233" y="1672903"/>
            <a:ext cx="6605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55,094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091565" y="2218655"/>
            <a:ext cx="83337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Cleaned rows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21568" y="2351038"/>
            <a:ext cx="110337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9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Deduplicated &amp; filtered</a:t>
            </a:r>
            <a:endParaRPr lang="en-US" sz="590" dirty="0"/>
          </a:p>
        </p:txBody>
      </p:sp>
      <p:sp>
        <p:nvSpPr>
          <p:cNvPr id="18" name="Shape 16"/>
          <p:cNvSpPr/>
          <p:nvPr/>
        </p:nvSpPr>
        <p:spPr>
          <a:xfrm>
            <a:off x="2071725" y="2179179"/>
            <a:ext cx="6105525" cy="319088"/>
          </a:xfrm>
          <a:prstGeom prst="roundRect">
            <a:avLst>
              <a:gd name="adj" fmla="val 14328"/>
            </a:avLst>
          </a:prstGeom>
          <a:solidFill>
            <a:srgbClr val="0D9488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99233" y="2250132"/>
            <a:ext cx="6433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52,538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95407" y="2795885"/>
            <a:ext cx="92953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Unique articles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043680" y="2928268"/>
            <a:ext cx="88126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9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Distinct headlines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071911" y="2756408"/>
            <a:ext cx="4433888" cy="319088"/>
          </a:xfrm>
          <a:prstGeom prst="roundRect">
            <a:avLst>
              <a:gd name="adj" fmla="val 14328"/>
            </a:avLst>
          </a:prstGeom>
          <a:solidFill>
            <a:srgbClr val="0D9488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99233" y="2827362"/>
            <a:ext cx="5820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38,131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50106" y="3373115"/>
            <a:ext cx="107483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Classified sample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852331" y="3505498"/>
            <a:ext cx="107261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9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Stratified LLM labeling</a:t>
            </a:r>
            <a:endParaRPr lang="en-US" sz="590" dirty="0"/>
          </a:p>
        </p:txBody>
      </p:sp>
      <p:sp>
        <p:nvSpPr>
          <p:cNvPr id="26" name="Shape 24"/>
          <p:cNvSpPr/>
          <p:nvPr/>
        </p:nvSpPr>
        <p:spPr>
          <a:xfrm>
            <a:off x="2070981" y="3333638"/>
            <a:ext cx="2057400" cy="319088"/>
          </a:xfrm>
          <a:prstGeom prst="roundRect">
            <a:avLst>
              <a:gd name="adj" fmla="val 14328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99233" y="3404592"/>
            <a:ext cx="5185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1,250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943072" y="3950345"/>
            <a:ext cx="98187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Relevant events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849139" y="4082728"/>
            <a:ext cx="107580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9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Pass economic screen</a:t>
            </a:r>
            <a:endParaRPr lang="en-US" sz="590" dirty="0"/>
          </a:p>
        </p:txBody>
      </p:sp>
      <p:sp>
        <p:nvSpPr>
          <p:cNvPr id="30" name="Shape 28"/>
          <p:cNvSpPr/>
          <p:nvPr/>
        </p:nvSpPr>
        <p:spPr>
          <a:xfrm>
            <a:off x="2071055" y="3910868"/>
            <a:ext cx="1543050" cy="319088"/>
          </a:xfrm>
          <a:prstGeom prst="roundRect">
            <a:avLst>
              <a:gd name="adj" fmla="val 14328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99233" y="3981822"/>
            <a:ext cx="3912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930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34" name="Text 32"/>
          <p:cNvSpPr/>
          <p:nvPr/>
        </p:nvSpPr>
        <p:spPr>
          <a:xfrm>
            <a:off x="7762280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35" name="Text 33"/>
          <p:cNvSpPr/>
          <p:nvPr/>
        </p:nvSpPr>
        <p:spPr>
          <a:xfrm>
            <a:off x="8388251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36" name="Text 34"/>
          <p:cNvSpPr/>
          <p:nvPr/>
        </p:nvSpPr>
        <p:spPr>
          <a:xfrm>
            <a:off x="8532986" y="4826050"/>
            <a:ext cx="37599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3</a:t>
            </a:r>
            <a:endParaRPr lang="en-US" sz="61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6935912" y="236711"/>
            <a:ext cx="196869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COMPETITOR UNIVERSE · TABLE 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65745" y="755526"/>
            <a:ext cx="162053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760" b="1" kern="0" spc="76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COMPETITOR GROUPS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65745" y="912837"/>
            <a:ext cx="448302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kern="0" spc="-43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 tickers across 5 sectors</a:t>
            </a:r>
            <a:endParaRPr lang="en-US" sz="2160" dirty="0"/>
          </a:p>
        </p:txBody>
      </p:sp>
      <p:sp>
        <p:nvSpPr>
          <p:cNvPr id="11" name="Shape 9"/>
          <p:cNvSpPr/>
          <p:nvPr/>
        </p:nvSpPr>
        <p:spPr>
          <a:xfrm>
            <a:off x="7369336" y="676535"/>
            <a:ext cx="566738" cy="557213"/>
          </a:xfrm>
          <a:prstGeom prst="roundRect">
            <a:avLst>
              <a:gd name="adj" fmla="val 1312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82940" y="782166"/>
            <a:ext cx="339529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7429057" y="1042243"/>
            <a:ext cx="44729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TICKERS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8063694" y="676535"/>
            <a:ext cx="714375" cy="557213"/>
          </a:xfrm>
          <a:prstGeom prst="roundRect">
            <a:avLst>
              <a:gd name="adj" fmla="val 1312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5274" y="782166"/>
            <a:ext cx="49121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SPY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8100302" y="1042243"/>
            <a:ext cx="64115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BENCHMARK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365187" y="1389571"/>
            <a:ext cx="2695575" cy="1524000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7847" y="1564481"/>
            <a:ext cx="61912" cy="61912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798" y="1531665"/>
            <a:ext cx="66805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Autos &amp; EV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16806" y="1740768"/>
            <a:ext cx="130884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7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TSLA · GM · F · RIVN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3224175" y="1389571"/>
            <a:ext cx="2695575" cy="1524000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76836" y="1564481"/>
            <a:ext cx="61912" cy="61912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03786" y="1531665"/>
            <a:ext cx="124529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Semiconductors &amp; AI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375794" y="1740768"/>
            <a:ext cx="220851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7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NVDA · AMD · INTC · QCOM · AVGO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6083164" y="1389571"/>
            <a:ext cx="2695575" cy="1524000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35824" y="1564481"/>
            <a:ext cx="61912" cy="61912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62774" y="1531665"/>
            <a:ext cx="96649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Airlines &amp; Travel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234782" y="1740768"/>
            <a:ext cx="139310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7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DAL · UAL · AAL · LUV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365187" y="3016374"/>
            <a:ext cx="2695575" cy="1528763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7847" y="3193628"/>
            <a:ext cx="61912" cy="61912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798" y="3160812"/>
            <a:ext cx="97848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Banks &amp; Finance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16806" y="3369915"/>
            <a:ext cx="13221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7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JPM · BAC · C · WFC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3224175" y="3016374"/>
            <a:ext cx="2695575" cy="1528763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76836" y="3193628"/>
            <a:ext cx="61912" cy="61912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03786" y="3160812"/>
            <a:ext cx="100818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Big Tech &amp; Cloud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3375794" y="3369915"/>
            <a:ext cx="238167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7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AAPL · MSFT · GOOGL · META · AMZN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6083164" y="3016374"/>
            <a:ext cx="2695575" cy="1528763"/>
          </a:xfrm>
          <a:prstGeom prst="roundRect">
            <a:avLst>
              <a:gd name="adj" fmla="val 5383"/>
            </a:avLst>
          </a:prstGeom>
          <a:solidFill>
            <a:srgbClr val="0D9488">
              <a:alpha val="6000"/>
            </a:srgbClr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34782" y="3561011"/>
            <a:ext cx="148578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36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WITHIN-GROUP RIVALS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6234782" y="3749576"/>
            <a:ext cx="3127817" cy="244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6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firm's competitors are its same-sector peers. News for</a:t>
            </a:r>
            <a:endParaRPr lang="en-US" sz="680" dirty="0"/>
          </a:p>
          <a:p>
            <a:pPr marL="0" indent="0" algn="l">
              <a:lnSpc>
                <a:spcPts val="1025"/>
              </a:lnSpc>
              <a:buNone/>
            </a:pPr>
            <a:r>
              <a:rPr lang="en-US" sz="6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is matched to abnormal returns of the rest.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42" name="Text 40"/>
          <p:cNvSpPr/>
          <p:nvPr/>
        </p:nvSpPr>
        <p:spPr>
          <a:xfrm>
            <a:off x="7759898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43" name="Text 41"/>
          <p:cNvSpPr/>
          <p:nvPr/>
        </p:nvSpPr>
        <p:spPr>
          <a:xfrm>
            <a:off x="8385870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44" name="Text 42"/>
          <p:cNvSpPr/>
          <p:nvPr/>
        </p:nvSpPr>
        <p:spPr>
          <a:xfrm>
            <a:off x="8530605" y="4826050"/>
            <a:ext cx="37909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4</a:t>
            </a:r>
            <a:endParaRPr lang="en-US" sz="610" dirty="0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4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270328" y="236711"/>
            <a:ext cx="153395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CLASSIFICATION METHOD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65745" y="1340718"/>
            <a:ext cx="10563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760" b="1" kern="0" spc="76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 LABELING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65745" y="1513061"/>
            <a:ext cx="4325049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160" b="1" kern="0" spc="-43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deterministic LLM reads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365745" y="1809229"/>
            <a:ext cx="247618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160" b="1" kern="0" spc="-43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headline</a:t>
            </a:r>
            <a:endParaRPr lang="en-US" sz="2160" dirty="0"/>
          </a:p>
        </p:txBody>
      </p:sp>
      <p:sp>
        <p:nvSpPr>
          <p:cNvPr id="12" name="Text 10"/>
          <p:cNvSpPr/>
          <p:nvPr/>
        </p:nvSpPr>
        <p:spPr>
          <a:xfrm>
            <a:off x="365745" y="2246337"/>
            <a:ext cx="4787942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3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stratified sample of 1,250 articles is labeled for relevance and expected</a:t>
            </a:r>
            <a:endParaRPr lang="en-US" sz="860" dirty="0"/>
          </a:p>
          <a:p>
            <a:pPr marL="0" indent="0" algn="l">
              <a:lnSpc>
                <a:spcPts val="1383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competitor effect, returning structured JSON for analysis.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66601" y="2766938"/>
            <a:ext cx="1957388" cy="519112"/>
          </a:xfrm>
          <a:prstGeom prst="roundRect">
            <a:avLst>
              <a:gd name="adj" fmla="val 140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500" y="2880420"/>
            <a:ext cx="38277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498500" y="2999631"/>
            <a:ext cx="10715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gpt-5.4-mini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2453729" y="2766938"/>
            <a:ext cx="1957388" cy="519112"/>
          </a:xfrm>
          <a:prstGeom prst="roundRect">
            <a:avLst>
              <a:gd name="adj" fmla="val 140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85591" y="2880420"/>
            <a:ext cx="73354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TEMPERATURE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2585591" y="2999631"/>
            <a:ext cx="3184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0.0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366601" y="3366046"/>
            <a:ext cx="1957388" cy="519112"/>
          </a:xfrm>
          <a:prstGeom prst="roundRect">
            <a:avLst>
              <a:gd name="adj" fmla="val 140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500" y="3479527"/>
            <a:ext cx="41779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STRATA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498500" y="3598738"/>
            <a:ext cx="2558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2453729" y="3366046"/>
            <a:ext cx="1957388" cy="519112"/>
          </a:xfrm>
          <a:prstGeom prst="roundRect">
            <a:avLst>
              <a:gd name="adj" fmla="val 140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85591" y="3479527"/>
            <a:ext cx="4414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</a:t>
            </a:r>
            <a:endParaRPr lang="en-US" sz="580" dirty="0"/>
          </a:p>
        </p:txBody>
      </p:sp>
      <p:sp>
        <p:nvSpPr>
          <p:cNvPr id="24" name="Text 22"/>
          <p:cNvSpPr/>
          <p:nvPr/>
        </p:nvSpPr>
        <p:spPr>
          <a:xfrm>
            <a:off x="2585591" y="3598738"/>
            <a:ext cx="14090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Structured JSON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731060" y="676461"/>
            <a:ext cx="4048125" cy="386715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92737" y="1708324"/>
            <a:ext cx="146198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Relevance screen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4992737" y="2070795"/>
            <a:ext cx="85214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Relevant · 930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8256612" y="2070795"/>
            <a:ext cx="39631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74.4%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4992998" y="2265797"/>
            <a:ext cx="3524250" cy="152400"/>
          </a:xfrm>
          <a:prstGeom prst="roundRect">
            <a:avLst>
              <a:gd name="adj" fmla="val 50000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91881" y="2265797"/>
            <a:ext cx="2624138" cy="152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92737" y="2603897"/>
            <a:ext cx="104581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relevant · 320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245227" y="2603897"/>
            <a:ext cx="41111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25.6%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4992998" y="2798899"/>
            <a:ext cx="3524250" cy="152400"/>
          </a:xfrm>
          <a:prstGeom prst="roundRect">
            <a:avLst>
              <a:gd name="adj" fmla="val 50000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93816" y="2798899"/>
            <a:ext cx="900113" cy="152400"/>
          </a:xfrm>
          <a:prstGeom prst="rect">
            <a:avLst/>
          </a:prstGeom>
          <a:solidFill>
            <a:srgbClr val="1E3A5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92737" y="3270349"/>
            <a:ext cx="4495406" cy="244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6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Roughly one in four sampled articles carries no economic signal for the competitor set</a:t>
            </a:r>
            <a:endParaRPr lang="en-US" sz="680" dirty="0"/>
          </a:p>
          <a:p>
            <a:pPr marL="0" indent="0" algn="l">
              <a:lnSpc>
                <a:spcPts val="1025"/>
              </a:lnSpc>
              <a:buNone/>
            </a:pPr>
            <a:r>
              <a:rPr lang="en-US" sz="6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 is dropped before the event study.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38" name="Text 36"/>
          <p:cNvSpPr/>
          <p:nvPr/>
        </p:nvSpPr>
        <p:spPr>
          <a:xfrm>
            <a:off x="7761387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39" name="Text 37"/>
          <p:cNvSpPr/>
          <p:nvPr/>
        </p:nvSpPr>
        <p:spPr>
          <a:xfrm>
            <a:off x="8387358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40" name="Text 38"/>
          <p:cNvSpPr/>
          <p:nvPr/>
        </p:nvSpPr>
        <p:spPr>
          <a:xfrm>
            <a:off x="8532093" y="4826050"/>
            <a:ext cx="37716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5</a:t>
            </a:r>
            <a:endParaRPr lang="en-US" sz="61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4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2998" y="3131493"/>
            <a:ext cx="3524250" cy="395287"/>
          </a:xfrm>
          <a:prstGeom prst="rect">
            <a:avLst/>
          </a:prstGeom>
        </p:spPr>
      </p:pic>
      <p:pic>
        <p:nvPicPr>
          <p:cNvPr id="4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026846" y="236711"/>
            <a:ext cx="185048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LABEL DISTRIBUTION · FIGURE 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65745" y="680889"/>
            <a:ext cx="18502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760" b="1" kern="0" spc="76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RELEVANCE-TYPE LABELS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65745" y="838200"/>
            <a:ext cx="6107549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kern="0" spc="-43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kind of news drives the sample</a:t>
            </a:r>
            <a:endParaRPr lang="en-US" sz="2160" dirty="0"/>
          </a:p>
        </p:txBody>
      </p:sp>
      <p:sp>
        <p:nvSpPr>
          <p:cNvPr id="11" name="Shape 9"/>
          <p:cNvSpPr/>
          <p:nvPr/>
        </p:nvSpPr>
        <p:spPr>
          <a:xfrm>
            <a:off x="366713" y="1314710"/>
            <a:ext cx="8410575" cy="2957513"/>
          </a:xfrm>
          <a:prstGeom prst="roundRect">
            <a:avLst>
              <a:gd name="adj" fmla="val 30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798" y="1655936"/>
            <a:ext cx="59153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Relevant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644798" y="1799927"/>
            <a:ext cx="118153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Carries competitor signal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2254821" y="1663712"/>
            <a:ext cx="6243638" cy="228600"/>
          </a:xfrm>
          <a:prstGeom prst="roundRect">
            <a:avLst>
              <a:gd name="adj" fmla="val 20000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54932" y="1663712"/>
            <a:ext cx="4619625" cy="228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798" y="2163589"/>
            <a:ext cx="9032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Industry news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644798" y="2307580"/>
            <a:ext cx="126289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Sector-wide developments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2254821" y="2171365"/>
            <a:ext cx="6243638" cy="228600"/>
          </a:xfrm>
          <a:prstGeom prst="roundRect">
            <a:avLst>
              <a:gd name="adj" fmla="val 20000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55081" y="2171365"/>
            <a:ext cx="2995613" cy="228600"/>
          </a:xfrm>
          <a:prstGeom prst="roundRect">
            <a:avLst>
              <a:gd name="adj" fmla="val 20000"/>
            </a:avLst>
          </a:prstGeom>
          <a:solidFill>
            <a:srgbClr val="0D948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798" y="2671242"/>
            <a:ext cx="13950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Target-company news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644798" y="2815233"/>
            <a:ext cx="137230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About the firm in the headline</a:t>
            </a:r>
            <a:endParaRPr lang="en-US" sz="580" dirty="0"/>
          </a:p>
        </p:txBody>
      </p:sp>
      <p:sp>
        <p:nvSpPr>
          <p:cNvPr id="22" name="Shape 20"/>
          <p:cNvSpPr/>
          <p:nvPr/>
        </p:nvSpPr>
        <p:spPr>
          <a:xfrm>
            <a:off x="2254821" y="2679018"/>
            <a:ext cx="6243638" cy="228600"/>
          </a:xfrm>
          <a:prstGeom prst="roundRect">
            <a:avLst>
              <a:gd name="adj" fmla="val 20000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52923" y="2679018"/>
            <a:ext cx="2500313" cy="228600"/>
          </a:xfrm>
          <a:prstGeom prst="roundRect">
            <a:avLst>
              <a:gd name="adj" fmla="val 20000"/>
            </a:avLst>
          </a:prstGeom>
          <a:solidFill>
            <a:srgbClr val="0D948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4798" y="3178894"/>
            <a:ext cx="17028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Competitor-company news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44798" y="3322886"/>
            <a:ext cx="99783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Names a rival directly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2254821" y="3186671"/>
            <a:ext cx="6243638" cy="228600"/>
          </a:xfrm>
          <a:prstGeom prst="roundRect">
            <a:avLst>
              <a:gd name="adj" fmla="val 20000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53928" y="3186671"/>
            <a:ext cx="1624012" cy="228600"/>
          </a:xfrm>
          <a:prstGeom prst="roundRect">
            <a:avLst>
              <a:gd name="adj" fmla="val 20000"/>
            </a:avLst>
          </a:prstGeom>
          <a:solidFill>
            <a:srgbClr val="0D948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4798" y="3686547"/>
            <a:ext cx="80348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relevant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644798" y="3830538"/>
            <a:ext cx="135992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economic signal · dropped</a:t>
            </a:r>
            <a:endParaRPr lang="en-US" sz="580" dirty="0"/>
          </a:p>
        </p:txBody>
      </p:sp>
      <p:sp>
        <p:nvSpPr>
          <p:cNvPr id="30" name="Shape 28"/>
          <p:cNvSpPr/>
          <p:nvPr/>
        </p:nvSpPr>
        <p:spPr>
          <a:xfrm>
            <a:off x="2254821" y="3694323"/>
            <a:ext cx="6243638" cy="228600"/>
          </a:xfrm>
          <a:prstGeom prst="roundRect">
            <a:avLst>
              <a:gd name="adj" fmla="val 20000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53928" y="3694323"/>
            <a:ext cx="1624012" cy="228600"/>
          </a:xfrm>
          <a:prstGeom prst="roundRect">
            <a:avLst>
              <a:gd name="adj" fmla="val 20000"/>
            </a:avLst>
          </a:prstGeom>
          <a:solidFill>
            <a:srgbClr val="0D948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45" y="4432176"/>
            <a:ext cx="573520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i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Bars show the relative composition of the 1,250-article classified sample; relevant vs. not-relevant split is exact (930 / 320).</a:t>
            </a:r>
            <a:endParaRPr lang="en-US" sz="610" dirty="0"/>
          </a:p>
        </p:txBody>
      </p:sp>
      <p:sp>
        <p:nvSpPr>
          <p:cNvPr id="33" name="Shape 31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35" name="Text 33"/>
          <p:cNvSpPr/>
          <p:nvPr/>
        </p:nvSpPr>
        <p:spPr>
          <a:xfrm>
            <a:off x="7758485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36" name="Text 34"/>
          <p:cNvSpPr/>
          <p:nvPr/>
        </p:nvSpPr>
        <p:spPr>
          <a:xfrm>
            <a:off x="8384456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37" name="Text 35"/>
          <p:cNvSpPr/>
          <p:nvPr/>
        </p:nvSpPr>
        <p:spPr>
          <a:xfrm>
            <a:off x="8529191" y="4826050"/>
            <a:ext cx="38093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6</a:t>
            </a:r>
            <a:endParaRPr lang="en-US" sz="61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391326" y="236711"/>
            <a:ext cx="13766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EVENT-STUDY METHOD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65745" y="1219126"/>
            <a:ext cx="1797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760" b="1" kern="0" spc="76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MEASURING SPILLOVERS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65745" y="1391469"/>
            <a:ext cx="4122189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160" b="1" kern="0" spc="-43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Abnormal returns vs. the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365745" y="1687637"/>
            <a:ext cx="121926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160" b="1" kern="0" spc="-43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</a:t>
            </a:r>
            <a:endParaRPr lang="en-US" sz="2160" dirty="0"/>
          </a:p>
        </p:txBody>
      </p:sp>
      <p:sp>
        <p:nvSpPr>
          <p:cNvPr id="12" name="Text 10"/>
          <p:cNvSpPr/>
          <p:nvPr/>
        </p:nvSpPr>
        <p:spPr>
          <a:xfrm>
            <a:off x="365745" y="2124745"/>
            <a:ext cx="4784266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3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each competitor we strip out market-wide movement, then cumulate</a:t>
            </a:r>
            <a:endParaRPr lang="en-US" sz="860" dirty="0"/>
          </a:p>
          <a:p>
            <a:pPr marL="0" indent="0" algn="l">
              <a:lnSpc>
                <a:spcPts val="1383"/>
              </a:lnSpc>
              <a:buNone/>
            </a:pPr>
            <a:r>
              <a:rPr lang="en-US" sz="86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residual across short windows after the news.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64815" y="2646425"/>
            <a:ext cx="4048125" cy="633412"/>
          </a:xfrm>
          <a:prstGeom prst="roundRect">
            <a:avLst>
              <a:gd name="adj" fmla="val 129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5037" y="2779365"/>
            <a:ext cx="10255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61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ABNORMAL RETURN</a:t>
            </a:r>
            <a:endParaRPr lang="en-US" sz="610" dirty="0"/>
          </a:p>
        </p:txBody>
      </p:sp>
      <p:sp>
        <p:nvSpPr>
          <p:cNvPr id="15" name="Text 13"/>
          <p:cNvSpPr/>
          <p:nvPr/>
        </p:nvSpPr>
        <p:spPr>
          <a:xfrm>
            <a:off x="535037" y="2946499"/>
            <a:ext cx="11689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   = R    − 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0105" y="3008412"/>
            <a:ext cx="15756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i,t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16563" y="3003708"/>
            <a:ext cx="15756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i,t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344349" y="3013584"/>
            <a:ext cx="31321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SPY,t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64815" y="3372334"/>
            <a:ext cx="4048125" cy="633412"/>
          </a:xfrm>
          <a:prstGeom prst="roundRect">
            <a:avLst>
              <a:gd name="adj" fmla="val 1299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5037" y="3505274"/>
            <a:ext cx="168090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61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CUMULATIVE ABNORMAL RETURN</a:t>
            </a:r>
            <a:endParaRPr lang="en-US" sz="610" dirty="0"/>
          </a:p>
        </p:txBody>
      </p:sp>
      <p:sp>
        <p:nvSpPr>
          <p:cNvPr id="21" name="Text 19"/>
          <p:cNvSpPr/>
          <p:nvPr/>
        </p:nvSpPr>
        <p:spPr>
          <a:xfrm>
            <a:off x="535037" y="3672408"/>
            <a:ext cx="14607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CAR(a,b) = Σ AR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14711" y="3734321"/>
            <a:ext cx="15756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i,t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731060" y="676461"/>
            <a:ext cx="4048125" cy="386715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92737" y="1775743"/>
            <a:ext cx="180627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 windows &amp; data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992216" y="2216162"/>
            <a:ext cx="1090613" cy="590550"/>
          </a:xfrm>
          <a:prstGeom prst="roundRect">
            <a:avLst>
              <a:gd name="adj" fmla="val 12387"/>
            </a:avLst>
          </a:prstGeom>
          <a:solidFill>
            <a:srgbClr val="0D9488">
              <a:alpha val="6000"/>
            </a:srgbClr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81654" y="2357735"/>
            <a:ext cx="91173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Next-day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47696" y="2567657"/>
            <a:ext cx="37957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AR(+1)</a:t>
            </a:r>
            <a:endParaRPr lang="en-US" sz="610" dirty="0"/>
          </a:p>
        </p:txBody>
      </p:sp>
      <p:sp>
        <p:nvSpPr>
          <p:cNvPr id="28" name="Shape 26"/>
          <p:cNvSpPr/>
          <p:nvPr/>
        </p:nvSpPr>
        <p:spPr>
          <a:xfrm>
            <a:off x="6209779" y="2216162"/>
            <a:ext cx="1090613" cy="590550"/>
          </a:xfrm>
          <a:prstGeom prst="roundRect">
            <a:avLst>
              <a:gd name="adj" fmla="val 12387"/>
            </a:avLst>
          </a:prstGeom>
          <a:solidFill>
            <a:srgbClr val="0D9488">
              <a:alpha val="6000"/>
            </a:srgbClr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99767" y="2357735"/>
            <a:ext cx="51056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(0, 1)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9110" y="2567657"/>
            <a:ext cx="79187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Immediate CAR</a:t>
            </a:r>
            <a:endParaRPr lang="en-US" sz="610" dirty="0"/>
          </a:p>
        </p:txBody>
      </p:sp>
      <p:sp>
        <p:nvSpPr>
          <p:cNvPr id="31" name="Shape 29"/>
          <p:cNvSpPr/>
          <p:nvPr/>
        </p:nvSpPr>
        <p:spPr>
          <a:xfrm>
            <a:off x="7427342" y="2216162"/>
            <a:ext cx="1090613" cy="590550"/>
          </a:xfrm>
          <a:prstGeom prst="roundRect">
            <a:avLst>
              <a:gd name="adj" fmla="val 12387"/>
            </a:avLst>
          </a:prstGeom>
          <a:solidFill>
            <a:srgbClr val="0D9488">
              <a:alpha val="6000"/>
            </a:srgbClr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21877" y="2357735"/>
            <a:ext cx="50146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(1, 3)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24187" y="2567657"/>
            <a:ext cx="49692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Drift CAR</a:t>
            </a:r>
            <a:endParaRPr lang="en-US" sz="610" dirty="0"/>
          </a:p>
        </p:txBody>
      </p:sp>
      <p:sp>
        <p:nvSpPr>
          <p:cNvPr id="34" name="Shape 32"/>
          <p:cNvSpPr/>
          <p:nvPr/>
        </p:nvSpPr>
        <p:spPr>
          <a:xfrm>
            <a:off x="4992998" y="2962573"/>
            <a:ext cx="3524250" cy="495300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92737" y="3109466"/>
            <a:ext cx="6526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6,360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92737" y="3346847"/>
            <a:ext cx="80648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Daily price rows</a:t>
            </a:r>
            <a:endParaRPr lang="en-US" sz="610" dirty="0"/>
          </a:p>
        </p:txBody>
      </p:sp>
      <p:sp>
        <p:nvSpPr>
          <p:cNvPr id="37" name="Text 35"/>
          <p:cNvSpPr/>
          <p:nvPr/>
        </p:nvSpPr>
        <p:spPr>
          <a:xfrm>
            <a:off x="5751984" y="3109466"/>
            <a:ext cx="96900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yfinance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51984" y="3346847"/>
            <a:ext cx="146459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Price source · SPY benchmark</a:t>
            </a:r>
            <a:endParaRPr lang="en-US" sz="610" dirty="0"/>
          </a:p>
        </p:txBody>
      </p:sp>
      <p:sp>
        <p:nvSpPr>
          <p:cNvPr id="39" name="Shape 37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41" name="Text 39"/>
          <p:cNvSpPr/>
          <p:nvPr/>
        </p:nvSpPr>
        <p:spPr>
          <a:xfrm>
            <a:off x="7766075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42" name="Text 40"/>
          <p:cNvSpPr/>
          <p:nvPr/>
        </p:nvSpPr>
        <p:spPr>
          <a:xfrm>
            <a:off x="8392046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43" name="Text 41"/>
          <p:cNvSpPr/>
          <p:nvPr/>
        </p:nvSpPr>
        <p:spPr>
          <a:xfrm>
            <a:off x="8536781" y="4826050"/>
            <a:ext cx="37106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7</a:t>
            </a:r>
            <a:endParaRPr lang="en-US" sz="61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4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2998" y="1761232"/>
            <a:ext cx="3524250" cy="300038"/>
          </a:xfrm>
          <a:prstGeom prst="rect">
            <a:avLst/>
          </a:prstGeom>
        </p:spPr>
      </p:pic>
      <p:pic>
        <p:nvPicPr>
          <p:cNvPr id="4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2998" y="2962573"/>
            <a:ext cx="3524250" cy="495300"/>
          </a:xfrm>
          <a:prstGeom prst="rect">
            <a:avLst/>
          </a:prstGeom>
        </p:spPr>
      </p:pic>
      <p:pic>
        <p:nvPicPr>
          <p:cNvPr id="4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265863" y="236711"/>
            <a:ext cx="15397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 SAMPLES · TABLE 4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65745" y="1656234"/>
            <a:ext cx="155978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760" b="1" kern="0" spc="76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SAMPLE DEFINITIONS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65745" y="1833339"/>
            <a:ext cx="2596433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090" b="1" kern="0" spc="-42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relevance</a:t>
            </a:r>
            <a:endParaRPr lang="en-US" sz="2090" dirty="0"/>
          </a:p>
        </p:txBody>
      </p:sp>
      <p:sp>
        <p:nvSpPr>
          <p:cNvPr id="11" name="Text 9"/>
          <p:cNvSpPr/>
          <p:nvPr/>
        </p:nvSpPr>
        <p:spPr>
          <a:xfrm>
            <a:off x="365745" y="2125042"/>
            <a:ext cx="1782961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090" b="1" kern="0" spc="-42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thresholds</a:t>
            </a:r>
            <a:endParaRPr lang="en-US" sz="2090" dirty="0"/>
          </a:p>
        </p:txBody>
      </p:sp>
      <p:sp>
        <p:nvSpPr>
          <p:cNvPr id="12" name="Text 10"/>
          <p:cNvSpPr/>
          <p:nvPr/>
        </p:nvSpPr>
        <p:spPr>
          <a:xfrm>
            <a:off x="365745" y="2552923"/>
            <a:ext cx="4076239" cy="315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24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Tightening the relevance bar trades sample size for signal purity.</a:t>
            </a:r>
            <a:endParaRPr lang="en-US" sz="830" dirty="0"/>
          </a:p>
          <a:p>
            <a:pPr marL="0" indent="0" algn="l">
              <a:lnSpc>
                <a:spcPts val="1324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Results are tested across all three to check robustness.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66601" y="3063367"/>
            <a:ext cx="71438" cy="71438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43" y="3038773"/>
            <a:ext cx="15099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Broad — any relevant signal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366601" y="3265550"/>
            <a:ext cx="71438" cy="71438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43" y="3240956"/>
            <a:ext cx="17325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 — clear competitor effect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366601" y="3467733"/>
            <a:ext cx="71438" cy="71438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43" y="3443139"/>
            <a:ext cx="18864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Very strict — high-confidence only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3921621" y="676461"/>
            <a:ext cx="4857750" cy="386715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1790" y="891332"/>
            <a:ext cx="140703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79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 rows by sample</a:t>
            </a:r>
            <a:endParaRPr lang="en-US" sz="790" dirty="0"/>
          </a:p>
        </p:txBody>
      </p:sp>
      <p:sp>
        <p:nvSpPr>
          <p:cNvPr id="21" name="Text 19"/>
          <p:cNvSpPr/>
          <p:nvPr/>
        </p:nvSpPr>
        <p:spPr>
          <a:xfrm>
            <a:off x="4652665" y="1257449"/>
            <a:ext cx="5568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4,544</a:t>
            </a:r>
            <a:endParaRPr lang="en-US" sz="108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7208" y="1521805"/>
            <a:ext cx="795338" cy="25336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639572" y="4133180"/>
            <a:ext cx="41053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Broad</a:t>
            </a:r>
            <a:endParaRPr lang="en-US" sz="760" dirty="0"/>
          </a:p>
        </p:txBody>
      </p:sp>
      <p:sp>
        <p:nvSpPr>
          <p:cNvPr id="24" name="Text 21"/>
          <p:cNvSpPr/>
          <p:nvPr/>
        </p:nvSpPr>
        <p:spPr>
          <a:xfrm>
            <a:off x="4450147" y="4272409"/>
            <a:ext cx="78945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Relevant events</a:t>
            </a:r>
            <a:endParaRPr lang="en-US" sz="590" dirty="0"/>
          </a:p>
        </p:txBody>
      </p:sp>
      <p:sp>
        <p:nvSpPr>
          <p:cNvPr id="25" name="Text 22"/>
          <p:cNvSpPr/>
          <p:nvPr/>
        </p:nvSpPr>
        <p:spPr>
          <a:xfrm>
            <a:off x="6169000" y="1750963"/>
            <a:ext cx="5289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2,973</a:t>
            </a:r>
            <a:endParaRPr lang="en-US" sz="108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2827" y="2013831"/>
            <a:ext cx="795338" cy="204311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148481" y="4133180"/>
            <a:ext cx="40395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</a:t>
            </a:r>
            <a:endParaRPr lang="en-US" sz="760" dirty="0"/>
          </a:p>
        </p:txBody>
      </p:sp>
      <p:sp>
        <p:nvSpPr>
          <p:cNvPr id="28" name="Text 24"/>
          <p:cNvSpPr/>
          <p:nvPr/>
        </p:nvSpPr>
        <p:spPr>
          <a:xfrm>
            <a:off x="6053870" y="4272409"/>
            <a:ext cx="59317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Clear effect</a:t>
            </a:r>
            <a:endParaRPr lang="en-US" sz="590" dirty="0"/>
          </a:p>
        </p:txBody>
      </p:sp>
      <p:sp>
        <p:nvSpPr>
          <p:cNvPr id="29" name="Text 25"/>
          <p:cNvSpPr/>
          <p:nvPr/>
        </p:nvSpPr>
        <p:spPr>
          <a:xfrm>
            <a:off x="7675438" y="2222227"/>
            <a:ext cx="5268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2,273</a:t>
            </a:r>
            <a:endParaRPr lang="en-US" sz="108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8447" y="2485206"/>
            <a:ext cx="795338" cy="157162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516334" y="4133180"/>
            <a:ext cx="6795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Very strict</a:t>
            </a:r>
            <a:endParaRPr lang="en-US" sz="760" dirty="0"/>
          </a:p>
        </p:txBody>
      </p:sp>
      <p:sp>
        <p:nvSpPr>
          <p:cNvPr id="32" name="Text 27"/>
          <p:cNvSpPr/>
          <p:nvPr/>
        </p:nvSpPr>
        <p:spPr>
          <a:xfrm>
            <a:off x="7455389" y="4272409"/>
            <a:ext cx="80145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confidence</a:t>
            </a:r>
            <a:endParaRPr lang="en-US" sz="590" dirty="0"/>
          </a:p>
        </p:txBody>
      </p:sp>
      <p:sp>
        <p:nvSpPr>
          <p:cNvPr id="33" name="Shape 28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35" name="Text 30"/>
          <p:cNvSpPr/>
          <p:nvPr/>
        </p:nvSpPr>
        <p:spPr>
          <a:xfrm>
            <a:off x="7759973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36" name="Text 31"/>
          <p:cNvSpPr/>
          <p:nvPr/>
        </p:nvSpPr>
        <p:spPr>
          <a:xfrm>
            <a:off x="8385944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37" name="Text 32"/>
          <p:cNvSpPr/>
          <p:nvPr/>
        </p:nvSpPr>
        <p:spPr>
          <a:xfrm>
            <a:off x="8530679" y="4826050"/>
            <a:ext cx="37899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8</a:t>
            </a:r>
            <a:endParaRPr lang="en-US" sz="61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429277" y="236711"/>
            <a:ext cx="132732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RESULT · FIGURE 3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65745" y="680889"/>
            <a:ext cx="239289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760" b="1" kern="0" spc="76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NEXT-DAY COMPETITOR AR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65745" y="838200"/>
            <a:ext cx="5913589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90" b="1" kern="0" spc="-42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 expected competitor-effect label</a:t>
            </a:r>
            <a:endParaRPr lang="en-US" sz="2090" dirty="0"/>
          </a:p>
        </p:txBody>
      </p:sp>
      <p:sp>
        <p:nvSpPr>
          <p:cNvPr id="11" name="Shape 9"/>
          <p:cNvSpPr/>
          <p:nvPr/>
        </p:nvSpPr>
        <p:spPr>
          <a:xfrm>
            <a:off x="366713" y="1278992"/>
            <a:ext cx="8410575" cy="3019425"/>
          </a:xfrm>
          <a:prstGeom prst="roundRect">
            <a:avLst>
              <a:gd name="adj" fmla="val 302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0563" y="3061767"/>
            <a:ext cx="7762875" cy="9525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6178" y="3011686"/>
            <a:ext cx="35326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0.00%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1918543" y="1890564"/>
            <a:ext cx="54509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86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+0.72%</a:t>
            </a:r>
            <a:endParaRPr lang="en-US" sz="86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609" y="2086087"/>
            <a:ext cx="1157288" cy="9763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382765" y="2488183"/>
            <a:ext cx="5491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86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+0.27%</a:t>
            </a:r>
            <a:endParaRPr lang="en-US" sz="86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3393" y="2684934"/>
            <a:ext cx="1157288" cy="376238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9178" y="3062399"/>
            <a:ext cx="1157288" cy="809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42224" y="3194596"/>
            <a:ext cx="56570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86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−0.09%</a:t>
            </a:r>
            <a:endParaRPr lang="en-US" sz="860" dirty="0"/>
          </a:p>
        </p:txBody>
      </p:sp>
      <p:sp>
        <p:nvSpPr>
          <p:cNvPr id="20" name="Text 15"/>
          <p:cNvSpPr/>
          <p:nvPr/>
        </p:nvSpPr>
        <p:spPr>
          <a:xfrm>
            <a:off x="1527769" y="3843486"/>
            <a:ext cx="115696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Opposite-direction</a:t>
            </a:r>
            <a:endParaRPr lang="en-US" sz="720" dirty="0"/>
          </a:p>
        </p:txBody>
      </p:sp>
      <p:sp>
        <p:nvSpPr>
          <p:cNvPr id="21" name="Text 16"/>
          <p:cNvSpPr/>
          <p:nvPr/>
        </p:nvSpPr>
        <p:spPr>
          <a:xfrm>
            <a:off x="1494696" y="3975869"/>
            <a:ext cx="122304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Competition · n=8 articles</a:t>
            </a:r>
            <a:endParaRPr lang="en-US" sz="590" dirty="0"/>
          </a:p>
        </p:txBody>
      </p:sp>
      <p:sp>
        <p:nvSpPr>
          <p:cNvPr id="22" name="Text 17"/>
          <p:cNvSpPr/>
          <p:nvPr/>
        </p:nvSpPr>
        <p:spPr>
          <a:xfrm>
            <a:off x="4093968" y="3843486"/>
            <a:ext cx="95613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Same-direction</a:t>
            </a:r>
            <a:endParaRPr lang="en-US" sz="720" dirty="0"/>
          </a:p>
        </p:txBody>
      </p:sp>
      <p:sp>
        <p:nvSpPr>
          <p:cNvPr id="23" name="Text 18"/>
          <p:cNvSpPr/>
          <p:nvPr/>
        </p:nvSpPr>
        <p:spPr>
          <a:xfrm>
            <a:off x="4032442" y="3975869"/>
            <a:ext cx="107919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· 3,093 rows</a:t>
            </a:r>
            <a:endParaRPr lang="en-US" sz="590" dirty="0"/>
          </a:p>
        </p:txBody>
      </p:sp>
      <p:sp>
        <p:nvSpPr>
          <p:cNvPr id="24" name="Text 19"/>
          <p:cNvSpPr/>
          <p:nvPr/>
        </p:nvSpPr>
        <p:spPr>
          <a:xfrm>
            <a:off x="6464175" y="3843486"/>
            <a:ext cx="114729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Negative-for-rivals</a:t>
            </a:r>
            <a:endParaRPr lang="en-US" sz="720" dirty="0"/>
          </a:p>
        </p:txBody>
      </p:sp>
      <p:sp>
        <p:nvSpPr>
          <p:cNvPr id="25" name="Text 20"/>
          <p:cNvSpPr/>
          <p:nvPr/>
        </p:nvSpPr>
        <p:spPr>
          <a:xfrm>
            <a:off x="6630758" y="3975869"/>
            <a:ext cx="8141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Adverse spillover</a:t>
            </a:r>
            <a:endParaRPr lang="en-US" sz="590" dirty="0"/>
          </a:p>
        </p:txBody>
      </p:sp>
      <p:sp>
        <p:nvSpPr>
          <p:cNvPr id="26" name="Text 21"/>
          <p:cNvSpPr/>
          <p:nvPr/>
        </p:nvSpPr>
        <p:spPr>
          <a:xfrm>
            <a:off x="365745" y="4432176"/>
            <a:ext cx="638141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i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Same-direction contagion is the dominant, well-populated case; the opposite-direction estimate rests on just 8 articles and is imprecise.</a:t>
            </a:r>
            <a:endParaRPr lang="en-US" sz="610" dirty="0"/>
          </a:p>
        </p:txBody>
      </p:sp>
      <p:sp>
        <p:nvSpPr>
          <p:cNvPr id="27" name="Shape 22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29" name="Text 24"/>
          <p:cNvSpPr/>
          <p:nvPr/>
        </p:nvSpPr>
        <p:spPr>
          <a:xfrm>
            <a:off x="7758485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30" name="Text 25"/>
          <p:cNvSpPr/>
          <p:nvPr/>
        </p:nvSpPr>
        <p:spPr>
          <a:xfrm>
            <a:off x="8384456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31" name="Text 26"/>
          <p:cNvSpPr/>
          <p:nvPr/>
        </p:nvSpPr>
        <p:spPr>
          <a:xfrm>
            <a:off x="8529191" y="4826050"/>
            <a:ext cx="38093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9</a:t>
            </a:r>
            <a:endParaRPr lang="en-US" sz="61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0563" y="3061767"/>
            <a:ext cx="7762875" cy="9525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329264" y="236711"/>
            <a:ext cx="14573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RETURNS BY NEWS TYPE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65745" y="1566490"/>
            <a:ext cx="19525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760" b="1" kern="0" spc="76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NEXT-DAY COMPETITOR AR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65745" y="1733327"/>
            <a:ext cx="49024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40" b="1" kern="0" spc="-3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Industry news moves rivals most</a:t>
            </a:r>
            <a:endParaRPr lang="en-US" sz="1940" dirty="0"/>
          </a:p>
        </p:txBody>
      </p:sp>
      <p:sp>
        <p:nvSpPr>
          <p:cNvPr id="11" name="Shape 9"/>
          <p:cNvSpPr/>
          <p:nvPr/>
        </p:nvSpPr>
        <p:spPr>
          <a:xfrm>
            <a:off x="364629" y="2177616"/>
            <a:ext cx="4857750" cy="1481137"/>
          </a:xfrm>
          <a:prstGeom prst="roundRect">
            <a:avLst>
              <a:gd name="adj" fmla="val 6174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6492" y="2436019"/>
            <a:ext cx="94327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Industry news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2327263" y="2387687"/>
            <a:ext cx="1938337" cy="238125"/>
          </a:xfrm>
          <a:prstGeom prst="roundRect">
            <a:avLst>
              <a:gd name="adj" fmla="val 19200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27263" y="2387687"/>
            <a:ext cx="1938337" cy="238125"/>
          </a:xfrm>
          <a:prstGeom prst="roundRect">
            <a:avLst>
              <a:gd name="adj" fmla="val 192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56698" y="2427163"/>
            <a:ext cx="6038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4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+0.66%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626492" y="2847454"/>
            <a:ext cx="145821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Target-company news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2327263" y="2799122"/>
            <a:ext cx="1938337" cy="238125"/>
          </a:xfrm>
          <a:prstGeom prst="roundRect">
            <a:avLst>
              <a:gd name="adj" fmla="val 19200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26667" y="2799122"/>
            <a:ext cx="214313" cy="238125"/>
          </a:xfrm>
          <a:prstGeom prst="roundRect">
            <a:avLst>
              <a:gd name="adj" fmla="val 21333"/>
            </a:avLst>
          </a:prstGeom>
          <a:solidFill>
            <a:srgbClr val="0D948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65404" y="2838599"/>
            <a:ext cx="5951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4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+0.07%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626492" y="3258889"/>
            <a:ext cx="178063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Competitor-company news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2327263" y="3210558"/>
            <a:ext cx="1938337" cy="238125"/>
          </a:xfrm>
          <a:prstGeom prst="roundRect">
            <a:avLst>
              <a:gd name="adj" fmla="val 19200"/>
            </a:avLst>
          </a:prstGeom>
          <a:solidFill>
            <a:srgbClr val="EEF2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327709" y="3210558"/>
            <a:ext cx="57150" cy="238125"/>
          </a:xfrm>
          <a:prstGeom prst="roundRect">
            <a:avLst>
              <a:gd name="adj" fmla="val 50000"/>
            </a:avLst>
          </a:prstGeom>
          <a:solidFill>
            <a:srgbClr val="0D948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47798" y="3250034"/>
            <a:ext cx="6127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4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~0.00%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5540499" y="676461"/>
            <a:ext cx="3238500" cy="3867150"/>
          </a:xfrm>
          <a:prstGeom prst="roundRect">
            <a:avLst>
              <a:gd name="adj" fmla="val 2824"/>
            </a:avLst>
          </a:prstGeom>
          <a:solidFill>
            <a:srgbClr val="0D9488">
              <a:alpha val="6000"/>
            </a:srgbClr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83684" y="1881113"/>
            <a:ext cx="103778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Drift persists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5783684" y="2140669"/>
            <a:ext cx="1476301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+0.88%</a:t>
            </a:r>
            <a:endParaRPr lang="en-US" sz="2450" dirty="0"/>
          </a:p>
        </p:txBody>
      </p:sp>
      <p:sp>
        <p:nvSpPr>
          <p:cNvPr id="27" name="Text 25"/>
          <p:cNvSpPr/>
          <p:nvPr/>
        </p:nvSpPr>
        <p:spPr>
          <a:xfrm>
            <a:off x="5783684" y="2550616"/>
            <a:ext cx="139242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72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Industry-news CAR(1,3)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5783684" y="2954387"/>
            <a:ext cx="3369275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9"/>
              </a:lnSpc>
              <a:buNone/>
            </a:pPr>
            <a:r>
              <a:rPr lang="en-US" sz="68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competitor reaction to sector news is not a one-day blip — it</a:t>
            </a:r>
            <a:endParaRPr lang="en-US" sz="680" dirty="0"/>
          </a:p>
          <a:p>
            <a:pPr marL="0" indent="0" algn="l">
              <a:lnSpc>
                <a:spcPts val="1059"/>
              </a:lnSpc>
              <a:buNone/>
            </a:pPr>
            <a:r>
              <a:rPr lang="en-US" sz="68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keeps drifting in the same direction over the following three</a:t>
            </a:r>
            <a:endParaRPr lang="en-US" sz="680" dirty="0"/>
          </a:p>
          <a:p>
            <a:pPr marL="0" indent="0" algn="l">
              <a:lnSpc>
                <a:spcPts val="1059"/>
              </a:lnSpc>
              <a:buNone/>
            </a:pPr>
            <a:r>
              <a:rPr lang="en-US" sz="68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sessions.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31" name="Text 29"/>
          <p:cNvSpPr/>
          <p:nvPr/>
        </p:nvSpPr>
        <p:spPr>
          <a:xfrm>
            <a:off x="7724105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32" name="Text 30"/>
          <p:cNvSpPr/>
          <p:nvPr/>
        </p:nvSpPr>
        <p:spPr>
          <a:xfrm>
            <a:off x="8350076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33" name="Text 31"/>
          <p:cNvSpPr/>
          <p:nvPr/>
        </p:nvSpPr>
        <p:spPr>
          <a:xfrm>
            <a:off x="8494812" y="4826050"/>
            <a:ext cx="42562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10</a:t>
            </a:r>
            <a:endParaRPr lang="en-US" sz="61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3387" y="2815903"/>
            <a:ext cx="2752725" cy="533400"/>
          </a:xfrm>
          <a:prstGeom prst="rect">
            <a:avLst/>
          </a:prstGeom>
        </p:spPr>
      </p:pic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345338" y="236711"/>
            <a:ext cx="14364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MAIN RESULTS · TABLE 5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65745" y="680889"/>
            <a:ext cx="202151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760" b="1" kern="0" spc="76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STRICT-SAMPLE ESTIMATES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65745" y="838200"/>
            <a:ext cx="7153096" cy="3381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90" b="1" kern="0" spc="-42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Contagion strengthens as the filter tightens</a:t>
            </a:r>
            <a:endParaRPr lang="en-US" sz="2090" dirty="0"/>
          </a:p>
        </p:txBody>
      </p:sp>
      <p:sp>
        <p:nvSpPr>
          <p:cNvPr id="11" name="Shape 9"/>
          <p:cNvSpPr/>
          <p:nvPr/>
        </p:nvSpPr>
        <p:spPr>
          <a:xfrm>
            <a:off x="366229" y="1294209"/>
            <a:ext cx="2681288" cy="1133475"/>
          </a:xfrm>
          <a:prstGeom prst="roundRect">
            <a:avLst>
              <a:gd name="adj" fmla="val 80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3343" y="1457771"/>
            <a:ext cx="1508901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65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INDUSTRY NEWS · NEXT-DAY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53343" y="1656457"/>
            <a:ext cx="130875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+0.62%</a:t>
            </a:r>
            <a:endParaRPr lang="en-US" sz="2160" dirty="0"/>
          </a:p>
        </p:txBody>
      </p:sp>
      <p:sp>
        <p:nvSpPr>
          <p:cNvPr id="14" name="Shape 12"/>
          <p:cNvSpPr/>
          <p:nvPr/>
        </p:nvSpPr>
        <p:spPr>
          <a:xfrm>
            <a:off x="553678" y="2101602"/>
            <a:ext cx="1014413" cy="166688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71" y="2131442"/>
            <a:ext cx="116296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610" b="1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 = 0.0031 · significant</a:t>
            </a:r>
            <a:endParaRPr lang="en-US" sz="610" dirty="0"/>
          </a:p>
        </p:txBody>
      </p:sp>
      <p:sp>
        <p:nvSpPr>
          <p:cNvPr id="16" name="Shape 14"/>
          <p:cNvSpPr/>
          <p:nvPr/>
        </p:nvSpPr>
        <p:spPr>
          <a:xfrm>
            <a:off x="3231319" y="1294209"/>
            <a:ext cx="2681288" cy="1133475"/>
          </a:xfrm>
          <a:prstGeom prst="roundRect">
            <a:avLst>
              <a:gd name="adj" fmla="val 80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8433" y="1457771"/>
            <a:ext cx="1598578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65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CAR(1,3) · BROAD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418433" y="1656457"/>
            <a:ext cx="117544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+1.13%</a:t>
            </a:r>
            <a:endParaRPr lang="en-US" sz="2160" dirty="0"/>
          </a:p>
        </p:txBody>
      </p:sp>
      <p:sp>
        <p:nvSpPr>
          <p:cNvPr id="19" name="Text 17"/>
          <p:cNvSpPr/>
          <p:nvPr/>
        </p:nvSpPr>
        <p:spPr>
          <a:xfrm>
            <a:off x="3418433" y="2105769"/>
            <a:ext cx="152292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61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Same-direction · broad sample</a:t>
            </a:r>
            <a:endParaRPr lang="en-US" sz="610" dirty="0"/>
          </a:p>
        </p:txBody>
      </p:sp>
      <p:sp>
        <p:nvSpPr>
          <p:cNvPr id="20" name="Shape 18"/>
          <p:cNvSpPr/>
          <p:nvPr/>
        </p:nvSpPr>
        <p:spPr>
          <a:xfrm>
            <a:off x="6096409" y="1294209"/>
            <a:ext cx="2681288" cy="1133475"/>
          </a:xfrm>
          <a:prstGeom prst="roundRect">
            <a:avLst>
              <a:gd name="adj" fmla="val 80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83523" y="1457771"/>
            <a:ext cx="1615410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65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CAR(1,3) · STRICT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283523" y="1656457"/>
            <a:ext cx="1263186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+1.49%</a:t>
            </a:r>
            <a:endParaRPr lang="en-US" sz="2160" dirty="0"/>
          </a:p>
        </p:txBody>
      </p:sp>
      <p:sp>
        <p:nvSpPr>
          <p:cNvPr id="23" name="Shape 21"/>
          <p:cNvSpPr/>
          <p:nvPr/>
        </p:nvSpPr>
        <p:spPr>
          <a:xfrm>
            <a:off x="6284082" y="2101602"/>
            <a:ext cx="576262" cy="166688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65751" y="2131442"/>
            <a:ext cx="59395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610" b="1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↑ vs. broad</a:t>
            </a:r>
            <a:endParaRPr lang="en-US" sz="610" dirty="0"/>
          </a:p>
        </p:txBody>
      </p:sp>
      <p:sp>
        <p:nvSpPr>
          <p:cNvPr id="25" name="Shape 23"/>
          <p:cNvSpPr/>
          <p:nvPr/>
        </p:nvSpPr>
        <p:spPr>
          <a:xfrm>
            <a:off x="366713" y="2572085"/>
            <a:ext cx="8410575" cy="1971675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4798" y="3295278"/>
            <a:ext cx="100499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1E3A5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holds up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645244" y="3572024"/>
            <a:ext cx="90488" cy="9048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7559" y="3555802"/>
            <a:ext cx="2789716" cy="26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Industry-news spillover is positive and statistically</a:t>
            </a:r>
            <a:endParaRPr lang="en-US" sz="720" dirty="0"/>
          </a:p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significant under the strict screen.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3339554" y="3572024"/>
            <a:ext cx="90488" cy="9048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21869" y="3555802"/>
            <a:ext cx="2883939" cy="26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Same-direction contagion drift grows from +1.13% to</a:t>
            </a:r>
            <a:endParaRPr lang="en-US" sz="720" dirty="0"/>
          </a:p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+1.49% as confidence rises.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033864" y="3572024"/>
            <a:ext cx="90488" cy="90488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6179" y="3555802"/>
            <a:ext cx="2827541" cy="260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Competitive-substitution estimates stay small and</a:t>
            </a:r>
            <a:endParaRPr lang="en-US" sz="720" dirty="0"/>
          </a:p>
          <a:p>
            <a:pPr marL="0" indent="0" algn="l">
              <a:lnSpc>
                <a:spcPts val="1080"/>
              </a:lnSpc>
              <a:buNone/>
            </a:pPr>
            <a:r>
              <a:rPr lang="en-US" sz="72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statistically unreliable.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35" name="Text 33"/>
          <p:cNvSpPr/>
          <p:nvPr/>
        </p:nvSpPr>
        <p:spPr>
          <a:xfrm>
            <a:off x="7741146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36" name="Text 34"/>
          <p:cNvSpPr/>
          <p:nvPr/>
        </p:nvSpPr>
        <p:spPr>
          <a:xfrm>
            <a:off x="8367117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37" name="Text 35"/>
          <p:cNvSpPr/>
          <p:nvPr/>
        </p:nvSpPr>
        <p:spPr>
          <a:xfrm>
            <a:off x="8511853" y="4826050"/>
            <a:ext cx="40347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11</a:t>
            </a:r>
            <a:endParaRPr lang="en-US" sz="61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6713" y="205643"/>
            <a:ext cx="8410575" cy="2905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6675" y="206611"/>
            <a:ext cx="180975" cy="180975"/>
          </a:xfrm>
          <a:prstGeom prst="roundRect">
            <a:avLst>
              <a:gd name="adj" fmla="val 2021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6682" y="256617"/>
            <a:ext cx="80962" cy="80962"/>
          </a:xfrm>
          <a:prstGeom prst="roundRect">
            <a:avLst>
              <a:gd name="adj" fmla="val 16941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0808" y="224284"/>
            <a:ext cx="10866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9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Spillover</a:t>
            </a:r>
            <a:r>
              <a:rPr lang="en-US" sz="860" b="1" kern="0" spc="9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Study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809458" y="236711"/>
            <a:ext cx="8330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CONCLUSION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552631" y="236711"/>
            <a:ext cx="3504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27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4343400" y="915665"/>
            <a:ext cx="457200" cy="4572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62425" y="1034690"/>
            <a:ext cx="219075" cy="21907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66409" y="1557635"/>
            <a:ext cx="101118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607"/>
              </a:spcAft>
              <a:buNone/>
            </a:pPr>
            <a:r>
              <a:rPr lang="en-US" sz="760" b="1" kern="0" spc="91" dirty="0">
                <a:solidFill>
                  <a:srgbClr val="0D948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VERDICT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044413" y="1735857"/>
            <a:ext cx="7055101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013"/>
              </a:spcAft>
              <a:buNone/>
            </a:pPr>
            <a:r>
              <a:rPr lang="en-US" sz="2880" b="1" kern="0" spc="-58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Contagion beats competition in</a:t>
            </a:r>
            <a:endParaRPr lang="en-US" sz="2880" dirty="0"/>
          </a:p>
        </p:txBody>
      </p:sp>
      <p:sp>
        <p:nvSpPr>
          <p:cNvPr id="13" name="Text 11"/>
          <p:cNvSpPr/>
          <p:nvPr/>
        </p:nvSpPr>
        <p:spPr>
          <a:xfrm>
            <a:off x="3086279" y="2130847"/>
            <a:ext cx="2971294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1013"/>
              </a:spcAft>
              <a:buNone/>
            </a:pPr>
            <a:r>
              <a:rPr lang="en-US" sz="2880" b="1" kern="0" spc="-58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short run</a:t>
            </a:r>
            <a:endParaRPr lang="en-US" sz="2880" dirty="0"/>
          </a:p>
        </p:txBody>
      </p:sp>
      <p:sp>
        <p:nvSpPr>
          <p:cNvPr id="14" name="Text 12"/>
          <p:cNvSpPr/>
          <p:nvPr/>
        </p:nvSpPr>
        <p:spPr>
          <a:xfrm>
            <a:off x="1441426" y="2702049"/>
            <a:ext cx="6261073" cy="55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6"/>
              </a:lnSpc>
              <a:buNone/>
            </a:pPr>
            <a:r>
              <a:rPr lang="en-US" sz="97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Corporate and industry news spills onto competitors in the same direction — and the</a:t>
            </a:r>
            <a:endParaRPr lang="en-US" sz="970" dirty="0"/>
          </a:p>
          <a:p>
            <a:pPr marL="0" indent="0" algn="ctr">
              <a:lnSpc>
                <a:spcPts val="1506"/>
              </a:lnSpc>
              <a:buNone/>
            </a:pPr>
            <a:r>
              <a:rPr lang="en-US" sz="97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effect strengthens with cleaner signal. Evidence for competitive substitution is weak</a:t>
            </a:r>
            <a:endParaRPr lang="en-US" sz="970" dirty="0"/>
          </a:p>
          <a:p>
            <a:pPr marL="0" indent="0" algn="ctr">
              <a:lnSpc>
                <a:spcPts val="1506"/>
              </a:lnSpc>
              <a:buNone/>
            </a:pPr>
            <a:r>
              <a:rPr lang="en-US" sz="970" dirty="0">
                <a:solidFill>
                  <a:srgbClr val="47556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 imprecise.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2072283" y="3523506"/>
            <a:ext cx="1681162" cy="781050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95897" y="3701728"/>
            <a:ext cx="6324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H1 ✓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2295897" y="4019922"/>
            <a:ext cx="166126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6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Industry contagion supported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3936467" y="3523506"/>
            <a:ext cx="1581150" cy="781050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61086" y="3701728"/>
            <a:ext cx="669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1E3A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H2 ✗</a:t>
            </a:r>
            <a:endParaRPr lang="en-US" sz="1580" dirty="0"/>
          </a:p>
        </p:txBody>
      </p:sp>
      <p:sp>
        <p:nvSpPr>
          <p:cNvPr id="20" name="Text 18"/>
          <p:cNvSpPr/>
          <p:nvPr/>
        </p:nvSpPr>
        <p:spPr>
          <a:xfrm>
            <a:off x="4161086" y="4019922"/>
            <a:ext cx="152863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6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Substitution not supported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5700340" y="3523506"/>
            <a:ext cx="1371600" cy="781050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24252" y="3701728"/>
            <a:ext cx="67317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D94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H3 ✓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5924252" y="4019922"/>
            <a:ext cx="12580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680" b="1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 labels carry signal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366713" y="4723730"/>
            <a:ext cx="8410575" cy="214313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45" y="4826050"/>
            <a:ext cx="256934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Contagion or Competition? · LLM-Based Event Study</a:t>
            </a:r>
            <a:endParaRPr lang="en-US" sz="610" dirty="0"/>
          </a:p>
        </p:txBody>
      </p:sp>
      <p:sp>
        <p:nvSpPr>
          <p:cNvPr id="26" name="Text 24"/>
          <p:cNvSpPr/>
          <p:nvPr/>
        </p:nvSpPr>
        <p:spPr>
          <a:xfrm>
            <a:off x="7728347" y="4826050"/>
            <a:ext cx="7521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Paper</a:t>
            </a:r>
            <a:endParaRPr lang="en-US" sz="610" dirty="0"/>
          </a:p>
        </p:txBody>
      </p:sp>
      <p:sp>
        <p:nvSpPr>
          <p:cNvPr id="27" name="Text 25"/>
          <p:cNvSpPr/>
          <p:nvPr/>
        </p:nvSpPr>
        <p:spPr>
          <a:xfrm>
            <a:off x="8354318" y="4826050"/>
            <a:ext cx="1265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</a:t>
            </a:r>
            <a:endParaRPr lang="en-US" sz="610" dirty="0"/>
          </a:p>
        </p:txBody>
      </p:sp>
      <p:sp>
        <p:nvSpPr>
          <p:cNvPr id="28" name="Text 26"/>
          <p:cNvSpPr/>
          <p:nvPr/>
        </p:nvSpPr>
        <p:spPr>
          <a:xfrm>
            <a:off x="8499053" y="4826050"/>
            <a:ext cx="42011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b="1" dirty="0">
                <a:solidFill>
                  <a:srgbClr val="94A3B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Page 12</a:t>
            </a:r>
            <a:endParaRPr lang="en-US" sz="61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13" y="205643"/>
            <a:ext cx="8410575" cy="290513"/>
          </a:xfrm>
          <a:prstGeom prst="rect">
            <a:avLst/>
          </a:prstGeom>
        </p:spPr>
      </p:pic>
      <p:pic>
        <p:nvPicPr>
          <p:cNvPr id="3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4723730"/>
            <a:ext cx="8410575" cy="2143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1106</Words>
  <Application>Microsoft Office PowerPoint</Application>
  <PresentationFormat>On-screen Show (16:9)</PresentationFormat>
  <Paragraphs>306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Manrope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Levy Lisboa Pan</cp:lastModifiedBy>
  <cp:revision>2</cp:revision>
  <dcterms:created xsi:type="dcterms:W3CDTF">2026-06-27T07:54:42Z</dcterms:created>
  <dcterms:modified xsi:type="dcterms:W3CDTF">2026-06-27T08:15:23Z</dcterms:modified>
</cp:coreProperties>
</file>